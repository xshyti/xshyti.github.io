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4"/>
  </p:normalViewPr>
  <p:slideViewPr>
    <p:cSldViewPr snapToGrid="0">
      <p:cViewPr varScale="1">
        <p:scale>
          <a:sx n="121" d="100"/>
          <a:sy n="121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1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7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4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7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9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79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43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2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45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94A7E-BC7B-C0DC-A832-5D0B85FCF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 fontScale="90000"/>
          </a:bodyPr>
          <a:lstStyle/>
          <a:p>
            <a:r>
              <a:rPr lang="en-US" dirty="0"/>
              <a:t>Estimating earnings based on demographic and job-related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BC2B2F-DA28-E428-121B-3FD9C5E73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DSC 680 – Project 2, Milestone 3</a:t>
            </a:r>
          </a:p>
          <a:p>
            <a:r>
              <a:rPr lang="en-US" dirty="0" err="1"/>
              <a:t>Xhoi</a:t>
            </a:r>
            <a:r>
              <a:rPr lang="en-US" dirty="0"/>
              <a:t> </a:t>
            </a:r>
            <a:r>
              <a:rPr lang="en-US" dirty="0" err="1"/>
              <a:t>Shyti</a:t>
            </a:r>
            <a:endParaRPr lang="en-US" dirty="0"/>
          </a:p>
          <a:p>
            <a:r>
              <a:rPr lang="en-US" dirty="0"/>
              <a:t>Bellevue University</a:t>
            </a:r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8B82FAD3-5726-B2D6-BF9F-069EACD9D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86" r="29647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30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9429E-9944-F962-E3B8-C8D5A332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3E32-3AC4-7789-2105-52E5BAD25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Gaining insight into the factors that contribute to income disparity is essential for:</a:t>
            </a:r>
          </a:p>
          <a:p>
            <a:pPr lvl="1"/>
            <a:r>
              <a:rPr lang="en-US" dirty="0"/>
              <a:t>Government decision-makers</a:t>
            </a:r>
          </a:p>
          <a:p>
            <a:pPr lvl="1"/>
            <a:r>
              <a:rPr lang="en-US" dirty="0"/>
              <a:t>Business leaders</a:t>
            </a:r>
          </a:p>
          <a:p>
            <a:pPr lvl="1"/>
            <a:r>
              <a:rPr lang="en-US" dirty="0"/>
              <a:t>Academic </a:t>
            </a:r>
            <a:r>
              <a:rPr lang="en-US" dirty="0" err="1"/>
              <a:t>proffessionals</a:t>
            </a:r>
            <a:endParaRPr lang="en-US" dirty="0"/>
          </a:p>
          <a:p>
            <a:r>
              <a:rPr lang="en-US" dirty="0"/>
              <a:t>Goal: Leverage machine learning techniques to classify income levels</a:t>
            </a:r>
          </a:p>
          <a:p>
            <a:r>
              <a:rPr lang="en-US" dirty="0"/>
              <a:t>Contributes to the development of evidence-based policies and strategic workforce planning</a:t>
            </a:r>
          </a:p>
        </p:txBody>
      </p:sp>
    </p:spTree>
    <p:extLst>
      <p:ext uri="{BB962C8B-B14F-4D97-AF65-F5344CB8AC3E}">
        <p14:creationId xmlns:p14="http://schemas.microsoft.com/office/powerpoint/2010/main" val="103240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B974-6C86-CEB1-88CC-0FC2CA21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E10C4-047D-8A71-3A42-F94D5C846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Income analysis is traditionally grounded in economic and social science frameworks</a:t>
            </a:r>
          </a:p>
          <a:p>
            <a:r>
              <a:rPr lang="en-US" dirty="0"/>
              <a:t>Machine learning adds a layer of predictive capability</a:t>
            </a:r>
          </a:p>
          <a:p>
            <a:r>
              <a:rPr lang="en-US" b="1" dirty="0"/>
              <a:t>Data Source:</a:t>
            </a:r>
            <a:r>
              <a:rPr lang="en-US" dirty="0"/>
              <a:t> 1994 Current Population Survey by the U.S. Census Bureau</a:t>
            </a:r>
          </a:p>
          <a:p>
            <a:r>
              <a:rPr lang="en-US" b="1" dirty="0"/>
              <a:t>Objective:</a:t>
            </a:r>
            <a:r>
              <a:rPr lang="en-US" dirty="0"/>
              <a:t> Pinpoint key socio-economic variables that influence income levels</a:t>
            </a:r>
          </a:p>
        </p:txBody>
      </p:sp>
    </p:spTree>
    <p:extLst>
      <p:ext uri="{BB962C8B-B14F-4D97-AF65-F5344CB8AC3E}">
        <p14:creationId xmlns:p14="http://schemas.microsoft.com/office/powerpoint/2010/main" val="57282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D0B2-4C17-5BB1-FBBC-970B4F9CD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2E332-BD5A-13D2-F0CE-3EB75B492C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32,561 instances with 15 features</a:t>
            </a:r>
          </a:p>
          <a:p>
            <a:r>
              <a:rPr lang="en-US" dirty="0"/>
              <a:t>Key variables: age, education, </a:t>
            </a:r>
            <a:r>
              <a:rPr lang="en-US" dirty="0" err="1"/>
              <a:t>workclass</a:t>
            </a:r>
            <a:r>
              <a:rPr lang="en-US" dirty="0"/>
              <a:t>, hours/week, etc.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8027B-58D2-7263-34D9-F6DA6C9162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Data Preparation Workflow:</a:t>
            </a:r>
          </a:p>
          <a:p>
            <a:pPr lvl="1"/>
            <a:r>
              <a:rPr lang="en-US" dirty="0"/>
              <a:t>Address incomplete or missing data</a:t>
            </a:r>
          </a:p>
          <a:p>
            <a:pPr lvl="1"/>
            <a:r>
              <a:rPr lang="en-US" dirty="0"/>
              <a:t>Convert categorical fields using label encoding</a:t>
            </a:r>
          </a:p>
          <a:p>
            <a:pPr lvl="1"/>
            <a:r>
              <a:rPr lang="en-US" dirty="0"/>
              <a:t>Scale numerical attributes for consistency</a:t>
            </a:r>
          </a:p>
          <a:p>
            <a:pPr lvl="1"/>
            <a:r>
              <a:rPr lang="en-US" dirty="0"/>
              <a:t>Divide data into training and testing sets using an 80/20 ratio</a:t>
            </a:r>
          </a:p>
        </p:txBody>
      </p:sp>
    </p:spTree>
    <p:extLst>
      <p:ext uri="{BB962C8B-B14F-4D97-AF65-F5344CB8AC3E}">
        <p14:creationId xmlns:p14="http://schemas.microsoft.com/office/powerpoint/2010/main" val="368307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2F464-BBC3-5635-2491-A2DA01A5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0B0F30-F721-8E98-5ECD-3B6875E2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EDA Overview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C89EC-2666-1F40-30F5-4BB3D9013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Understanding the relationship between various attributes and income levels</a:t>
            </a:r>
            <a:br>
              <a:rPr lang="en-US" dirty="0"/>
            </a:br>
            <a:r>
              <a:rPr lang="en-US" dirty="0"/>
              <a:t>Notable associations:</a:t>
            </a:r>
          </a:p>
          <a:p>
            <a:pPr lvl="1"/>
            <a:r>
              <a:rPr lang="en-US" dirty="0"/>
              <a:t>Advanced education and capital gains tend to align with higher earnings</a:t>
            </a:r>
          </a:p>
          <a:p>
            <a:pPr lvl="1"/>
            <a:r>
              <a:rPr lang="en-US" dirty="0"/>
              <a:t>Age and weekly working hours also show a positive link with income</a:t>
            </a:r>
          </a:p>
        </p:txBody>
      </p:sp>
      <p:pic>
        <p:nvPicPr>
          <p:cNvPr id="6" name="Content Placeholder 5" descr="A graph of a heat map&#10;&#10;Description automatically generated with medium confidence">
            <a:extLst>
              <a:ext uri="{FF2B5EF4-FFF2-40B4-BE49-F238E27FC236}">
                <a16:creationId xmlns:a16="http://schemas.microsoft.com/office/drawing/2014/main" id="{BEEA7B23-74BA-CCFB-D078-94DD880EAC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7196" r="10413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34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05BC2-DC60-5845-B5C4-56593C40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826B8-C367-FEC2-A9F7-569E62A8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/>
              <a:t>Age distribution by income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1947A-6BBB-5365-0822-04B5D874E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Individuals with incomes above $50K tend to be older on average.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Income Class 0: Represents earnings ≤ $50K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Income Class 1: Represents earnings &gt; $50K</a:t>
            </a:r>
          </a:p>
        </p:txBody>
      </p:sp>
      <p:pic>
        <p:nvPicPr>
          <p:cNvPr id="8" name="Content Placeholder 7" descr="A diagram of a number of individuals&#10;&#10;Description automatically generated with medium confidence">
            <a:extLst>
              <a:ext uri="{FF2B5EF4-FFF2-40B4-BE49-F238E27FC236}">
                <a16:creationId xmlns:a16="http://schemas.microsoft.com/office/drawing/2014/main" id="{2CD2D784-94DB-B5E8-96DC-266BA9DCFD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4092" r="16999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20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6339E-B9B4-07E6-367B-F034D5327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30CF3-E81A-E906-DE02-783614A7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Education and income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BD4E2-7C49-796C-075F-C381908124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081935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lvl="1"/>
            <a:r>
              <a:rPr lang="en-US" dirty="0" err="1"/>
              <a:t>Countplot</a:t>
            </a:r>
            <a:r>
              <a:rPr lang="en-US" dirty="0"/>
              <a:t> analysis</a:t>
            </a:r>
          </a:p>
          <a:p>
            <a:pPr marL="914400" lvl="2"/>
            <a:r>
              <a:rPr lang="en-US" dirty="0"/>
              <a:t>Income levels appear to be significantly influenced by educational attainment</a:t>
            </a:r>
          </a:p>
          <a:p>
            <a:pPr marL="914400" lvl="2"/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E50ED3-F8DA-FCE2-7610-87F730A94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185306"/>
              </p:ext>
            </p:extLst>
          </p:nvPr>
        </p:nvGraphicFramePr>
        <p:xfrm>
          <a:off x="465884" y="3428380"/>
          <a:ext cx="4485537" cy="32976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8558">
                  <a:extLst>
                    <a:ext uri="{9D8B030D-6E8A-4147-A177-3AD203B41FA5}">
                      <a16:colId xmlns:a16="http://schemas.microsoft.com/office/drawing/2014/main" val="309189786"/>
                    </a:ext>
                  </a:extLst>
                </a:gridCol>
                <a:gridCol w="2236979">
                  <a:extLst>
                    <a:ext uri="{9D8B030D-6E8A-4147-A177-3AD203B41FA5}">
                      <a16:colId xmlns:a16="http://schemas.microsoft.com/office/drawing/2014/main" val="1232752209"/>
                    </a:ext>
                  </a:extLst>
                </a:gridCol>
              </a:tblGrid>
              <a:tr h="1171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Original Value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Encoded Value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8177849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10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0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9337662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11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8738332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12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2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1627712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</a:t>
                      </a:r>
                      <a:r>
                        <a:rPr lang="en-US" sz="1200" kern="150" baseline="30000">
                          <a:effectLst/>
                        </a:rPr>
                        <a:t>st</a:t>
                      </a:r>
                      <a:r>
                        <a:rPr lang="en-US" sz="1200" kern="150">
                          <a:effectLst/>
                        </a:rPr>
                        <a:t> – 4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3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1076282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5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r>
                        <a:rPr lang="en-US" sz="1200" kern="150">
                          <a:effectLst/>
                        </a:rPr>
                        <a:t> – 6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4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7182496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7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r>
                        <a:rPr lang="en-US" sz="1200" kern="150">
                          <a:effectLst/>
                        </a:rPr>
                        <a:t> – 8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5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5864653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9</a:t>
                      </a:r>
                      <a:r>
                        <a:rPr lang="en-US" sz="1200" kern="150" baseline="30000">
                          <a:effectLst/>
                        </a:rPr>
                        <a:t>th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6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7753018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Assoc-</a:t>
                      </a:r>
                      <a:r>
                        <a:rPr lang="en-US" sz="1200" kern="150" dirty="0" err="1">
                          <a:effectLst/>
                        </a:rPr>
                        <a:t>acdm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7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1265991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Assoc-</a:t>
                      </a:r>
                      <a:r>
                        <a:rPr lang="en-US" sz="1200" kern="150" dirty="0" err="1">
                          <a:effectLst/>
                        </a:rPr>
                        <a:t>voc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8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4397160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Bachelors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9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5564755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Doctorate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10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8615256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HS-Grad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11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2171302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Masters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12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3091899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Pre-School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13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2592517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Prof-School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14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1786554"/>
                  </a:ext>
                </a:extLst>
              </a:tr>
              <a:tr h="11091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Some college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15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7416018"/>
                  </a:ext>
                </a:extLst>
              </a:tr>
            </a:tbl>
          </a:graphicData>
        </a:graphic>
      </p:graphicFrame>
      <p:pic>
        <p:nvPicPr>
          <p:cNvPr id="13" name="Content Placeholder 12" descr="A graph of a graph with blue and orange bars&#10;&#10;Description automatically generated">
            <a:extLst>
              <a:ext uri="{FF2B5EF4-FFF2-40B4-BE49-F238E27FC236}">
                <a16:creationId xmlns:a16="http://schemas.microsoft.com/office/drawing/2014/main" id="{7B91F44D-D2BA-8872-524E-38ED917934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16888" y="1442865"/>
            <a:ext cx="7875112" cy="3848496"/>
          </a:xfrm>
        </p:spPr>
      </p:pic>
    </p:spTree>
    <p:extLst>
      <p:ext uri="{BB962C8B-B14F-4D97-AF65-F5344CB8AC3E}">
        <p14:creationId xmlns:p14="http://schemas.microsoft.com/office/powerpoint/2010/main" val="4224566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345F-F122-FE0B-6F7A-0BABB02D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Hours worked vs marital status</a:t>
            </a:r>
          </a:p>
        </p:txBody>
      </p:sp>
      <p:pic>
        <p:nvPicPr>
          <p:cNvPr id="6" name="Content Placeholder 5" descr="A graph of blue and orange bars&#10;&#10;Description automatically generated">
            <a:extLst>
              <a:ext uri="{FF2B5EF4-FFF2-40B4-BE49-F238E27FC236}">
                <a16:creationId xmlns:a16="http://schemas.microsoft.com/office/drawing/2014/main" id="{11AF6428-1790-EC4C-2D1D-813D69788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1731612"/>
            <a:ext cx="6172200" cy="346780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85FB3-A73B-021C-1563-621EF9EFD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Married people who put in longer working hours generally have higher earnings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B89D04-2621-7FF2-9FBE-BFBDC5F4E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436168"/>
              </p:ext>
            </p:extLst>
          </p:nvPr>
        </p:nvGraphicFramePr>
        <p:xfrm>
          <a:off x="989930" y="3429000"/>
          <a:ext cx="3691967" cy="19320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8235">
                  <a:extLst>
                    <a:ext uri="{9D8B030D-6E8A-4147-A177-3AD203B41FA5}">
                      <a16:colId xmlns:a16="http://schemas.microsoft.com/office/drawing/2014/main" val="2460637729"/>
                    </a:ext>
                  </a:extLst>
                </a:gridCol>
                <a:gridCol w="2133732">
                  <a:extLst>
                    <a:ext uri="{9D8B030D-6E8A-4147-A177-3AD203B41FA5}">
                      <a16:colId xmlns:a16="http://schemas.microsoft.com/office/drawing/2014/main" val="375957863"/>
                    </a:ext>
                  </a:extLst>
                </a:gridCol>
              </a:tblGrid>
              <a:tr h="3639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Original Value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Encoded Value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505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Divorced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0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4424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Married-AF-Spouse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4901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Married-civ-spouse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2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4502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Married-spouce-absent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3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2269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Never-married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4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0343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Separated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5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40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Widowed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6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7123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99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67577-416C-6A26-3E4F-753306811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A5-045E-55DA-1D1E-4E6B75896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Race and gender by Income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ADCA6-3452-17DD-3F2D-811952173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Differences in income are clearly observable among various racial and gender groups</a:t>
            </a:r>
          </a:p>
        </p:txBody>
      </p:sp>
      <p:pic>
        <p:nvPicPr>
          <p:cNvPr id="9" name="Content Placeholder 8" descr="A graph of a number of people&#10;&#10;Description automatically generated">
            <a:extLst>
              <a:ext uri="{FF2B5EF4-FFF2-40B4-BE49-F238E27FC236}">
                <a16:creationId xmlns:a16="http://schemas.microsoft.com/office/drawing/2014/main" id="{CF909DFF-8FE6-BCFB-3865-D94CD2EF4A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5712" y="241159"/>
            <a:ext cx="6172200" cy="3187841"/>
          </a:xfrm>
        </p:spPr>
      </p:pic>
      <p:pic>
        <p:nvPicPr>
          <p:cNvPr id="11" name="Picture 10" descr="A graph of a bar graph&#10;&#10;Description automatically generated with medium confidence">
            <a:extLst>
              <a:ext uri="{FF2B5EF4-FFF2-40B4-BE49-F238E27FC236}">
                <a16:creationId xmlns:a16="http://schemas.microsoft.com/office/drawing/2014/main" id="{14306BCA-BAFC-259E-FC2E-BDC1B2057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412" y="3226303"/>
            <a:ext cx="5524500" cy="3631697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30141C9-1E25-CEEE-B874-758976BFD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74631"/>
              </p:ext>
            </p:extLst>
          </p:nvPr>
        </p:nvGraphicFramePr>
        <p:xfrm>
          <a:off x="624181" y="3307650"/>
          <a:ext cx="4575500" cy="11637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760">
                  <a:extLst>
                    <a:ext uri="{9D8B030D-6E8A-4147-A177-3AD203B41FA5}">
                      <a16:colId xmlns:a16="http://schemas.microsoft.com/office/drawing/2014/main" val="1076898675"/>
                    </a:ext>
                  </a:extLst>
                </a:gridCol>
                <a:gridCol w="2288740">
                  <a:extLst>
                    <a:ext uri="{9D8B030D-6E8A-4147-A177-3AD203B41FA5}">
                      <a16:colId xmlns:a16="http://schemas.microsoft.com/office/drawing/2014/main" val="1472132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Original Value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Encoded Value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978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Amer-Indian-Eskimo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0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8163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Asian-Pac-Islander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1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661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Black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2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890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Other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3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899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White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4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776169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B0489B6-AD0F-311E-93BF-7740AF2ED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3934"/>
              </p:ext>
            </p:extLst>
          </p:nvPr>
        </p:nvGraphicFramePr>
        <p:xfrm>
          <a:off x="624181" y="4936997"/>
          <a:ext cx="4575500" cy="5817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760">
                  <a:extLst>
                    <a:ext uri="{9D8B030D-6E8A-4147-A177-3AD203B41FA5}">
                      <a16:colId xmlns:a16="http://schemas.microsoft.com/office/drawing/2014/main" val="2723968234"/>
                    </a:ext>
                  </a:extLst>
                </a:gridCol>
                <a:gridCol w="2288740">
                  <a:extLst>
                    <a:ext uri="{9D8B030D-6E8A-4147-A177-3AD203B41FA5}">
                      <a16:colId xmlns:a16="http://schemas.microsoft.com/office/drawing/2014/main" val="607351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Original Value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Encoded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162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Female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0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748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>
                          <a:effectLst/>
                        </a:rPr>
                        <a:t>Male</a:t>
                      </a:r>
                      <a:endParaRPr lang="en-US" sz="1200" kern="15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</a:pPr>
                      <a:r>
                        <a:rPr lang="en-US" sz="1200" kern="150" dirty="0">
                          <a:effectLst/>
                        </a:rPr>
                        <a:t>1</a:t>
                      </a:r>
                      <a:endParaRPr lang="en-US" sz="1200" kern="150" dirty="0">
                        <a:effectLst/>
                        <a:latin typeface="Liberation Serif"/>
                        <a:ea typeface="Noto Serif CJK SC"/>
                        <a:cs typeface="FreeSan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2489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998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635E3-EE71-FEE8-D013-09C6D10C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A7CDD-F49D-FB15-D586-8DAC78E5C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Modeling Strategy:</a:t>
            </a:r>
          </a:p>
          <a:p>
            <a:pPr lvl="1"/>
            <a:r>
              <a:rPr lang="en-US" dirty="0"/>
              <a:t>Started with Logistic Regression as a benchmark model</a:t>
            </a:r>
          </a:p>
          <a:p>
            <a:pPr lvl="1"/>
            <a:r>
              <a:rPr lang="en-US" dirty="0"/>
              <a:t>Applied Random Forest to capture complex relationships and assess feature relevance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Assessed performance using accuracy, precision, recall, F1 score, and ROC-AUC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Selected features based on Gini importance derived from the Random Forest model</a:t>
            </a:r>
          </a:p>
        </p:txBody>
      </p:sp>
    </p:spTree>
    <p:extLst>
      <p:ext uri="{BB962C8B-B14F-4D97-AF65-F5344CB8AC3E}">
        <p14:creationId xmlns:p14="http://schemas.microsoft.com/office/powerpoint/2010/main" val="364187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ED89C-950B-85D3-8BC8-7559069F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0CDC2-02B6-D2C4-FB27-2BEDAC8A4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/>
              <a:t>Model performance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F749-5D53-414B-8064-199B726B6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n-US" dirty="0"/>
              <a:t>Logistic Regression:</a:t>
            </a:r>
          </a:p>
          <a:p>
            <a:pPr lvl="1"/>
            <a:r>
              <a:rPr lang="en-US" dirty="0"/>
              <a:t>Accuracy: 78.6%</a:t>
            </a:r>
          </a:p>
          <a:p>
            <a:pPr lvl="1"/>
            <a:r>
              <a:rPr lang="en-US" dirty="0"/>
              <a:t>ROC-AUC: 0.81</a:t>
            </a:r>
          </a:p>
          <a:p>
            <a:r>
              <a:rPr lang="en-US" dirty="0"/>
              <a:t>Random Forest:</a:t>
            </a:r>
          </a:p>
          <a:p>
            <a:pPr lvl="1"/>
            <a:r>
              <a:rPr lang="en-US" dirty="0"/>
              <a:t>Accuracy: 85.8%</a:t>
            </a:r>
          </a:p>
          <a:p>
            <a:pPr lvl="1"/>
            <a:r>
              <a:rPr lang="en-US" dirty="0"/>
              <a:t>ROC-AUC: 0.90</a:t>
            </a:r>
          </a:p>
        </p:txBody>
      </p:sp>
      <p:pic>
        <p:nvPicPr>
          <p:cNvPr id="5" name="Picture 4" descr="A graph of a curve&#10;&#10;Description automatically generated with medium confidence">
            <a:extLst>
              <a:ext uri="{FF2B5EF4-FFF2-40B4-BE49-F238E27FC236}">
                <a16:creationId xmlns:a16="http://schemas.microsoft.com/office/drawing/2014/main" id="{0489BDC2-598E-3E6F-A55E-15DB2E5804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2" r="9837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2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CB7C4-9C69-41D7-63BC-73F7C5C9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03027A-A50D-ADEA-6E20-03233709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 dirty="0"/>
              <a:t>Feature importance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F3FD6-B0B2-5A3A-ADD5-8F9288B72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en-US" dirty="0"/>
              <a:t>Top features:</a:t>
            </a:r>
          </a:p>
          <a:p>
            <a:pPr lvl="1"/>
            <a:r>
              <a:rPr lang="en-US" dirty="0"/>
              <a:t>Education (</a:t>
            </a:r>
            <a:r>
              <a:rPr lang="en-US" dirty="0" err="1"/>
              <a:t>education_num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Capital gain</a:t>
            </a:r>
          </a:p>
          <a:p>
            <a:pPr lvl="1"/>
            <a:r>
              <a:rPr lang="en-US" dirty="0"/>
              <a:t>Hours per week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Marital status</a:t>
            </a:r>
          </a:p>
        </p:txBody>
      </p:sp>
      <p:pic>
        <p:nvPicPr>
          <p:cNvPr id="6" name="Picture 5" descr="A graph with different colored bars&#10;&#10;Description automatically generated">
            <a:extLst>
              <a:ext uri="{FF2B5EF4-FFF2-40B4-BE49-F238E27FC236}">
                <a16:creationId xmlns:a16="http://schemas.microsoft.com/office/drawing/2014/main" id="{539E8218-2C6D-0226-98D6-0A3FE330E9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1" r="30696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6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2D4A0-3C5A-B170-6767-A88936A6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53AFDE-7256-318A-4C05-7F07D947F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9193-FC7A-0118-4339-DA06C2E13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algorithms effectively classify income groups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Ensemble approaches show superior performance compared to the baseline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findings have real-world relevance for shaping public policy, recruitment strategies, and educational planning</a:t>
            </a:r>
          </a:p>
        </p:txBody>
      </p:sp>
    </p:spTree>
    <p:extLst>
      <p:ext uri="{BB962C8B-B14F-4D97-AF65-F5344CB8AC3E}">
        <p14:creationId xmlns:p14="http://schemas.microsoft.com/office/powerpoint/2010/main" val="751384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F4F575-FED8-43D0-AAB5-7F722E99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FBFCD5E-AFFA-6AC4-180F-2BDB4F419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5D3201-7577-DF30-41AB-94557691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1CC86E-F730-3B26-AB64-75BD22CB6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801745A-8A6E-7DBD-2173-9D97A905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r>
              <a:rPr lang="en-US" dirty="0"/>
              <a:t>Assumptions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0AC1-A74D-BD40-F89F-286A6FAE8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r>
              <a:rPr lang="en-US" dirty="0"/>
              <a:t>Assumptions: The data offers a representative snapshot of the population, and the socioeconomic patterns identified remain applicable in the present context.</a:t>
            </a:r>
          </a:p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The dataset originates from 1994</a:t>
            </a:r>
          </a:p>
          <a:p>
            <a:pPr lvl="1"/>
            <a:r>
              <a:rPr lang="en-US" dirty="0"/>
              <a:t>Lacks detailed insights at the regional and industry-specific levels</a:t>
            </a:r>
          </a:p>
          <a:p>
            <a:pPr lvl="1"/>
            <a:r>
              <a:rPr lang="en-US" dirty="0"/>
              <a:t>Potential for bias due to the historical nature of the data</a:t>
            </a:r>
          </a:p>
        </p:txBody>
      </p:sp>
    </p:spTree>
    <p:extLst>
      <p:ext uri="{BB962C8B-B14F-4D97-AF65-F5344CB8AC3E}">
        <p14:creationId xmlns:p14="http://schemas.microsoft.com/office/powerpoint/2010/main" val="519368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5FB11-C5B0-6E74-02B6-DADBD88B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D57CA45-B9BB-AB64-233F-12CDBF476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AC6B904-A768-8C4F-2A01-4334C1FC3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836D501-58BC-840E-6940-A159C5D2F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8C548CD-CA0E-AC4B-2FDF-9CE0775B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r>
              <a:rPr lang="en-US" dirty="0"/>
              <a:t>Challenges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16599-F308-7411-9CBB-346019A5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Uneven class distribution</a:t>
            </a:r>
          </a:p>
          <a:p>
            <a:pPr lvl="1"/>
            <a:r>
              <a:rPr lang="en-US" dirty="0"/>
              <a:t>Numerous categorical attributes to manage</a:t>
            </a:r>
          </a:p>
          <a:p>
            <a:r>
              <a:rPr lang="en-US" dirty="0"/>
              <a:t>Future Enhancements:</a:t>
            </a:r>
          </a:p>
          <a:p>
            <a:pPr lvl="1"/>
            <a:r>
              <a:rPr lang="en-US" dirty="0"/>
              <a:t>Leverage up-to-date datasets</a:t>
            </a:r>
          </a:p>
          <a:p>
            <a:pPr lvl="1"/>
            <a:r>
              <a:rPr lang="en-US" dirty="0"/>
              <a:t>Integrate geographic, economic, and sector-specific variables</a:t>
            </a:r>
          </a:p>
          <a:p>
            <a:pPr lvl="1"/>
            <a:r>
              <a:rPr lang="en-US" dirty="0"/>
              <a:t>Investigate advanced models like </a:t>
            </a:r>
            <a:r>
              <a:rPr lang="en-US" dirty="0" err="1"/>
              <a:t>XGBoost</a:t>
            </a:r>
            <a:r>
              <a:rPr lang="en-US" dirty="0"/>
              <a:t> and implement interactive dashboards</a:t>
            </a:r>
          </a:p>
        </p:txBody>
      </p:sp>
    </p:spTree>
    <p:extLst>
      <p:ext uri="{BB962C8B-B14F-4D97-AF65-F5344CB8AC3E}">
        <p14:creationId xmlns:p14="http://schemas.microsoft.com/office/powerpoint/2010/main" val="135016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96D21-E407-1FE8-0328-4C614416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CDCBA7-1653-652B-660F-774436CD1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13CC5D9-EC64-8E74-6E88-D872E3659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2895BE-B33E-BE09-BB05-825D88707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82F444B-01D6-B428-15F7-341B9C1B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4342569" cy="3543764"/>
          </a:xfrm>
        </p:spPr>
        <p:txBody>
          <a:bodyPr>
            <a:normAutofit/>
          </a:bodyPr>
          <a:lstStyle/>
          <a:p>
            <a:r>
              <a:rPr lang="en-US" dirty="0"/>
              <a:t>ethical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9A558-45D8-178F-4F7D-DA7A5787F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r>
              <a:rPr lang="en-US" dirty="0"/>
              <a:t>Potential Risks:</a:t>
            </a:r>
          </a:p>
          <a:p>
            <a:pPr lvl="1"/>
            <a:r>
              <a:rPr lang="en-US" dirty="0"/>
              <a:t>Reinforcement of existing biases</a:t>
            </a:r>
          </a:p>
          <a:p>
            <a:pPr lvl="1"/>
            <a:r>
              <a:rPr lang="en-US" dirty="0"/>
              <a:t>Issues related to data privacy</a:t>
            </a:r>
          </a:p>
          <a:p>
            <a:r>
              <a:rPr lang="en-US" dirty="0"/>
              <a:t>Proposed Solutions:</a:t>
            </a:r>
          </a:p>
          <a:p>
            <a:pPr lvl="1"/>
            <a:r>
              <a:rPr lang="en-US" dirty="0"/>
              <a:t>Conduct periodic evaluations and reviews</a:t>
            </a:r>
          </a:p>
          <a:p>
            <a:pPr lvl="1"/>
            <a:r>
              <a:rPr lang="en-US" dirty="0"/>
              <a:t>Maintain openness about model development choices</a:t>
            </a:r>
          </a:p>
          <a:p>
            <a:pPr lvl="1"/>
            <a:r>
              <a:rPr lang="en-US" dirty="0"/>
              <a:t>Engage stakeholders throughout the process</a:t>
            </a:r>
          </a:p>
        </p:txBody>
      </p:sp>
    </p:spTree>
    <p:extLst>
      <p:ext uri="{BB962C8B-B14F-4D97-AF65-F5344CB8AC3E}">
        <p14:creationId xmlns:p14="http://schemas.microsoft.com/office/powerpoint/2010/main" val="232433550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8186</TotalTime>
  <Words>612</Words>
  <Application>Microsoft Macintosh PowerPoint</Application>
  <PresentationFormat>Widescreen</PresentationFormat>
  <Paragraphs>153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Calisto MT</vt:lpstr>
      <vt:lpstr>Liberation Serif</vt:lpstr>
      <vt:lpstr>Univers Condensed</vt:lpstr>
      <vt:lpstr>ChronicleVTI</vt:lpstr>
      <vt:lpstr>Estimating earnings based on demographic and job-related data</vt:lpstr>
      <vt:lpstr>Business problem</vt:lpstr>
      <vt:lpstr>Background</vt:lpstr>
      <vt:lpstr>Data explanation</vt:lpstr>
      <vt:lpstr>EDA Overview</vt:lpstr>
      <vt:lpstr>Age distribution by income</vt:lpstr>
      <vt:lpstr>Education and income</vt:lpstr>
      <vt:lpstr>Hours worked vs marital status</vt:lpstr>
      <vt:lpstr>Race and gender by Income</vt:lpstr>
      <vt:lpstr>methods</vt:lpstr>
      <vt:lpstr>Model performance</vt:lpstr>
      <vt:lpstr>Feature importance</vt:lpstr>
      <vt:lpstr>Conclusion</vt:lpstr>
      <vt:lpstr>Assumptions and limitations</vt:lpstr>
      <vt:lpstr>Challenges and future work</vt:lpstr>
      <vt:lpstr>ethical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Xhoi Shyti</dc:creator>
  <cp:lastModifiedBy>Xhoi Shyti</cp:lastModifiedBy>
  <cp:revision>18</cp:revision>
  <dcterms:created xsi:type="dcterms:W3CDTF">2025-05-26T23:09:03Z</dcterms:created>
  <dcterms:modified xsi:type="dcterms:W3CDTF">2025-07-20T13:11:01Z</dcterms:modified>
</cp:coreProperties>
</file>